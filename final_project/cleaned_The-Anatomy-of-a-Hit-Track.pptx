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3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586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Relationship Id="rId4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e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eg"/><Relationship Id="rId4" Type="http://schemas.openxmlformats.org/officeDocument/2006/relationships/image" Target="../media/image13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eg"/><Relationship Id="rId4" Type="http://schemas.openxmlformats.org/officeDocument/2006/relationships/image" Target="../media/image15.svg"/><Relationship Id="rId5" Type="http://schemas.openxmlformats.org/officeDocument/2006/relationships/image" Target="../media/image16.svg"/><Relationship Id="rId6" Type="http://schemas.openxmlformats.org/officeDocument/2006/relationships/image" Target="../media/image17.svg"/><Relationship Id="rId7" Type="http://schemas.openxmlformats.org/officeDocument/2006/relationships/image" Target="../media/image18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4310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Anatomy of a Hit Track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98687"/>
            <a:ext cx="5179963" cy="64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Mainstream Popularity Drivers in Spotify Audio Features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Presented by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Nithish Asala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Matriculation: 86313451 (120B)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840713" y="3879426"/>
            <a:ext cx="3162523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925119" y="3943381"/>
            <a:ext cx="344961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VISUALIZATION FINAL PROJECT · SUMMER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9176"/>
            <a:ext cx="8151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Interrogating 114,000+ Tracks Across Audio and Genre Dimensions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2120429"/>
            <a:ext cx="5213524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interrogates a real-world dataset of over 114,000 tracks, examining audio features — danceability, energy, loudness, valence, duration, and acousticness — to decode what separates chart-topping hits from niche tracks. Methodology centers on multi-dimensional exploratory data analysis built with Plotly and Streamlit.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590" y="1044550"/>
            <a:ext cx="2694980" cy="26949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897139"/>
            <a:ext cx="2670572" cy="6971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7196" y="4011067"/>
            <a:ext cx="238556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667196" y="4208785"/>
            <a:ext cx="2385566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114,000+ tracks with Spotify audio features</a:t>
            </a:r>
            <a:endParaRPr lang="en-US" sz="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6714" y="3897139"/>
            <a:ext cx="2670572" cy="69718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07792" y="4011067"/>
            <a:ext cx="238556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Goal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3407792" y="4208785"/>
            <a:ext cx="2385566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Decode audio characteristics that separate hits from niche tracks</a:t>
            </a:r>
            <a:endParaRPr lang="en-US" sz="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7310" y="3897139"/>
            <a:ext cx="2670572" cy="69718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48388" y="4011067"/>
            <a:ext cx="238556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6148388" y="4208785"/>
            <a:ext cx="2385566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Multi-dimensional EDA built with Plotly and Streamlit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4664"/>
            <a:ext cx="657225" cy="198462"/>
          </a:xfrm>
          <a:prstGeom prst="roundRect">
            <a:avLst>
              <a:gd name="adj" fmla="val 22126"/>
            </a:avLst>
          </a:prstGeom>
          <a:solidFill>
            <a:srgbClr val="DADBF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74477" y="443805"/>
            <a:ext cx="957709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51272"/>
            <a:ext cx="8151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Pop and Hip-Hop Lead Mainstream Listener Engagement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84226"/>
            <a:ext cx="3916487" cy="2819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36157" y="1757139"/>
            <a:ext cx="3916487" cy="1405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 and Hip-Hop consistently achieve the highest average popularity scores across streaming charts. Traditional genres like Classical and Acoustic serve niche audiences with significantly lower average popularity distributions. 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Genre context sets the baseline ceiling for mainstream reach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structural reality that shapes every downstream production and marketing decision.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00496"/>
            <a:ext cx="620985" cy="181719"/>
          </a:xfrm>
          <a:prstGeom prst="roundRect">
            <a:avLst>
              <a:gd name="adj" fmla="val 22117"/>
            </a:avLst>
          </a:prstGeom>
          <a:solidFill>
            <a:srgbClr val="DADBF1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996854" y="436364"/>
            <a:ext cx="934715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2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622548"/>
            <a:ext cx="4722763" cy="747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Explicit Tracks Cluster at Peak Energy and Loudness Levels</a:t>
            </a:r>
            <a:endParaRPr lang="en-US" sz="2350" dirty="0"/>
          </a:p>
        </p:txBody>
      </p:sp>
      <p:sp>
        <p:nvSpPr>
          <p:cNvPr id="6" name="Shape 3"/>
          <p:cNvSpPr/>
          <p:nvPr/>
        </p:nvSpPr>
        <p:spPr>
          <a:xfrm>
            <a:off x="3925119" y="1521470"/>
            <a:ext cx="2310929" cy="1377851"/>
          </a:xfrm>
          <a:prstGeom prst="roundRect">
            <a:avLst>
              <a:gd name="adj" fmla="val 364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049464" y="1645816"/>
            <a:ext cx="206223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Loudness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049464" y="1893168"/>
            <a:ext cx="2062237" cy="881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with elevated dB levels correlate strongly with top popularity tiers, signaling competitive mastering for playlist placement.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336953" y="1521470"/>
            <a:ext cx="2310929" cy="1377851"/>
          </a:xfrm>
          <a:prstGeom prst="roundRect">
            <a:avLst>
              <a:gd name="adj" fmla="val 364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461299" y="1645816"/>
            <a:ext cx="206223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Peak Energy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61299" y="1893168"/>
            <a:ext cx="2062237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High-energy tracks dominate the upper popularity percentiles — intensity is a measurable mainstream signal.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925119" y="3000226"/>
            <a:ext cx="4722763" cy="848767"/>
          </a:xfrm>
          <a:prstGeom prst="roundRect">
            <a:avLst>
              <a:gd name="adj" fmla="val 591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049464" y="3124572"/>
            <a:ext cx="44740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Explicit Content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049464" y="3371924"/>
            <a:ext cx="44740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tracks cluster densely in high-energy, high-loudness zones, reinforcing a production profile tied to mainstream appeal.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925119" y="3962474"/>
            <a:ext cx="4722763" cy="780455"/>
          </a:xfrm>
          <a:prstGeom prst="roundRect">
            <a:avLst>
              <a:gd name="adj" fmla="val 6437"/>
            </a:avLst>
          </a:prstGeom>
          <a:solidFill>
            <a:srgbClr val="DADBF1"/>
          </a:solidFill>
          <a:ln/>
        </p:spPr>
        <p:txBody>
          <a:bodyPr/>
          <a:p/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702" y="4126260"/>
            <a:ext cx="149498" cy="11958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13783" y="4093220"/>
            <a:ext cx="4214515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Insight:</a:t>
            </a: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Mainstream appeal rewards intense, high-impact production. Loudness and energy are not incidental — they are engineered for chart performance.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4664"/>
            <a:ext cx="679252" cy="198462"/>
          </a:xfrm>
          <a:prstGeom prst="roundRect">
            <a:avLst>
              <a:gd name="adj" fmla="val 22126"/>
            </a:avLst>
          </a:prstGeom>
          <a:solidFill>
            <a:srgbClr val="DADBF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74477" y="443805"/>
            <a:ext cx="979736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51272"/>
            <a:ext cx="8151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Chart-Topping Hits Strictly Adhere to the 3.2-Minute Format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84226"/>
            <a:ext cx="3916487" cy="2819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36157" y="1757139"/>
            <a:ext cx="3916487" cy="1205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distribution of popular tracks (popularity &gt;80) peaks tightly between 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3.0 and 3.5 minutes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Longer tracks — especially those exceeding 5 minutes — experience sharp drop-offs in mainstream popularity. This is not an artistic constraint; it is a 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streaming economics reality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shorter tracks facilitate higher replayability and algorithmic loop amplification.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4664"/>
            <a:ext cx="682228" cy="198462"/>
          </a:xfrm>
          <a:prstGeom prst="roundRect">
            <a:avLst>
              <a:gd name="adj" fmla="val 22126"/>
            </a:avLst>
          </a:prstGeom>
          <a:solidFill>
            <a:srgbClr val="DADBF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74477" y="443805"/>
            <a:ext cx="982712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51272"/>
            <a:ext cx="8151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Mass Appeal Favors Polished, Produced Soundscapes Over Pure Acousticness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84226"/>
            <a:ext cx="3916487" cy="2819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36157" y="1757139"/>
            <a:ext cx="3916487" cy="1205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High-popularity tracks show 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near-zero acousticness scores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High acousticness is predominantly restricted to lower popularity tiers or specialized genres like Folk and Classical. Electronic enhancement and modern mixing are not optional — they are 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prerequisites for mainstream radio and playlist placement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36157" y="3097709"/>
            <a:ext cx="3916487" cy="683865"/>
          </a:xfrm>
          <a:prstGeom prst="roundRect">
            <a:avLst>
              <a:gd name="adj" fmla="val 8027"/>
            </a:avLst>
          </a:prstGeom>
          <a:solidFill>
            <a:srgbClr val="B6D6FC"/>
          </a:solidFill>
          <a:ln/>
        </p:spPr>
        <p:txBody>
          <a:bodyPr/>
          <a:p/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829" y="3294311"/>
            <a:ext cx="163339" cy="1306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60838" y="3238798"/>
            <a:ext cx="336113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Acousticness is an inverse signal: the more organic the sound, the lower the mainstream reach.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2534"/>
            <a:ext cx="550887" cy="161479"/>
          </a:xfrm>
          <a:prstGeom prst="roundRect">
            <a:avLst>
              <a:gd name="adj" fmla="val 22124"/>
            </a:avLst>
          </a:prstGeom>
          <a:solidFill>
            <a:srgbClr val="DADBF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59891" y="424383"/>
            <a:ext cx="880542" cy="9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5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585862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Vocals Are Essential: Instrumental Tracks Face a Hard Ceiling</a:t>
            </a:r>
            <a:endParaRPr lang="en-US" sz="2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27373"/>
            <a:ext cx="3946178" cy="28404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6466" y="1109439"/>
            <a:ext cx="3946178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with high instrumentalness (&gt;0.5) </a:t>
            </a: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rarely break past the 75+ popularity threshold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Vocal presence remains the single strongest catalyst for listener connection and lyrical virality — a pattern consistent across all major genres in the dataset.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96119" y="4147170"/>
            <a:ext cx="8151763" cy="603796"/>
          </a:xfrm>
          <a:prstGeom prst="roundRect">
            <a:avLst>
              <a:gd name="adj" fmla="val 7396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16669" y="4267721"/>
            <a:ext cx="791066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6669" y="4481587"/>
            <a:ext cx="791066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Lyrics drive social sharing, playlist adds, and cultural resonance that purely instrumental tracks cannot replicate at scale.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368350" cy="107603"/>
          </a:xfrm>
          <a:prstGeom prst="roundRect">
            <a:avLst>
              <a:gd name="adj" fmla="val 22134"/>
            </a:avLst>
          </a:prstGeom>
          <a:solidFill>
            <a:srgbClr val="DADBF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38609" y="411063"/>
            <a:ext cx="740569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6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Energy and Danceability Unify Leading Mainstream Genres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86594" y="941691"/>
            <a:ext cx="3989412" cy="1407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radar profile comparison of Pop, Hip-Hop, and Rock reveals a shared audio fingerprint. 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Danceability and Energy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form the core framework of top-performing tracks across all three genres. Valence — musical positivity — varies widely, confirming that hits can be cheerful or melancholy; emotional tone is flexible, but sonic intensity is not.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232" y="825996"/>
            <a:ext cx="3989412" cy="398941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594" y="4885506"/>
            <a:ext cx="2697212" cy="2360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6011" y="4895031"/>
            <a:ext cx="25977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Danceability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86011" y="5026968"/>
            <a:ext cx="25977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Consistently high across all top genres</a:t>
            </a:r>
            <a:endParaRPr lang="en-US" sz="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8557" y="4885506"/>
            <a:ext cx="2697287" cy="23604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17974" y="4895031"/>
            <a:ext cx="259786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Energy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3317974" y="5026968"/>
            <a:ext cx="259786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Non-negotiable for mainstream chart performance</a:t>
            </a:r>
            <a:endParaRPr lang="en-US" sz="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0595" y="4885506"/>
            <a:ext cx="2697212" cy="23604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50012" y="4895031"/>
            <a:ext cx="25977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Valence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6050012" y="5026968"/>
            <a:ext cx="25977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Wide variance — hits span the emotional spectrum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9089"/>
            <a:ext cx="4722763" cy="73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Data Exploration via Interactive Web Application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96119" y="1328589"/>
            <a:ext cx="4722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interactive dashboard built with </a:t>
            </a: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Streamlit &amp; Plotly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deployed on Streamlit Community Cloud, enables dynamic exploration of the full 114,000+ track dataset.</a:t>
            </a:r>
            <a:endParaRPr lang="en-US" sz="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781249"/>
            <a:ext cx="234776" cy="2347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2413" y="1821582"/>
            <a:ext cx="436646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Genre Filtering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852413" y="2063279"/>
            <a:ext cx="436646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 and compare audio profiles across any genre combination in real time.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29396"/>
            <a:ext cx="234776" cy="2347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2413" y="2469728"/>
            <a:ext cx="436646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Metric Sliders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852413" y="2711425"/>
            <a:ext cx="4366468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 popularity thresholds, duration ranges, and audio feature filters on the fly.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249216"/>
            <a:ext cx="234776" cy="2347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2413" y="3289548"/>
            <a:ext cx="436646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Audio Profile Radar Charts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852413" y="3531245"/>
            <a:ext cx="4366468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multi-dimensional audio fingerprints side-by-side for any selected genre set.</a:t>
            </a:r>
            <a:endParaRPr lang="en-US" sz="9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4069035"/>
            <a:ext cx="234776" cy="23477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52413" y="4109368"/>
            <a:ext cx="436646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KPI Counters</a:t>
            </a: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852413" y="4351065"/>
            <a:ext cx="4366468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aggregate statistics update instantly as filters are applied, surfacing patterns at a glance.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2431"/>
            <a:ext cx="8151763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Playbook for Modern Music Production &amp; Streaming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549301"/>
            <a:ext cx="279053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767408"/>
            <a:ext cx="4007197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96119" y="1875234"/>
            <a:ext cx="400719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Optimize Duration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175644"/>
            <a:ext cx="400719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</a:t>
            </a: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3.0 to 3.5 minutes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maximum playlist retention and replayability.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40684" y="1549301"/>
            <a:ext cx="279053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40684" y="1767408"/>
            <a:ext cx="4007197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40684" y="1875234"/>
            <a:ext cx="400719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Prioritize Vocal Production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40684" y="2175644"/>
            <a:ext cx="400719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 purely instrumental tracks if mainstream reach is the primary goal — vocals drive virality.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6119" y="2860551"/>
            <a:ext cx="279053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6119" y="3078659"/>
            <a:ext cx="4007197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6119" y="3186485"/>
            <a:ext cx="400719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Master for Loudness &amp; Energy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6119" y="3486894"/>
            <a:ext cx="400719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High-impact mixing at competitive dB levels is a prerequisite for chart placement.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40684" y="2860551"/>
            <a:ext cx="279053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40684" y="3078659"/>
            <a:ext cx="4007197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40684" y="3186485"/>
            <a:ext cx="400719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 Genre Strategically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40684" y="3486894"/>
            <a:ext cx="400719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 and Hip-Hop offer the highest baseline popularity ceiling — genre context matters from day one.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6119" y="4188916"/>
            <a:ext cx="8151763" cy="552078"/>
          </a:xfrm>
          <a:prstGeom prst="roundRect">
            <a:avLst>
              <a:gd name="adj" fmla="val 10617"/>
            </a:avLst>
          </a:prstGeom>
          <a:solidFill>
            <a:srgbClr val="DADBF1"/>
          </a:solidFill>
          <a:ln/>
        </p:spPr>
        <p:txBody>
          <a:bodyPr/>
          <a:p/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45" y="4388793"/>
            <a:ext cx="174427" cy="13952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49598" y="4361111"/>
            <a:ext cx="80159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Explore the Data:</a:t>
            </a: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Full GitHub repository and live Streamlit dashboard available at [Link Placeholder].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794</Words>
  <Application>Microsoft Office PowerPoint</Application>
  <PresentationFormat>On-screen Show (16:9)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</vt:lpstr>
      <vt:lpstr>Inter Light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Asala Nithish</cp:lastModifiedBy>
  <cp:revision>2</cp:revision>
  <dcterms:created xsi:type="dcterms:W3CDTF">2026-07-31T20:52:05Z</dcterms:created>
  <dcterms:modified xsi:type="dcterms:W3CDTF">2026-07-31T21:04:43Z</dcterms:modified>
</cp:coreProperties>
</file>